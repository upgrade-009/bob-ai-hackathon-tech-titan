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94360" y="274320"/>
            <a:ext cx="0" cy="6126480"/>
          </a:xfrm>
          <a:prstGeom prst="line">
            <a:avLst/>
          </a:prstGeom>
          <a:ln w="7620">
            <a:solidFill>
              <a:srgbClr val="2335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2926080" y="274320"/>
            <a:ext cx="0" cy="6126480"/>
          </a:xfrm>
          <a:prstGeom prst="line">
            <a:avLst/>
          </a:prstGeom>
          <a:ln w="7620">
            <a:solidFill>
              <a:srgbClr val="2335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5257800" y="274320"/>
            <a:ext cx="0" cy="6126480"/>
          </a:xfrm>
          <a:prstGeom prst="line">
            <a:avLst/>
          </a:prstGeom>
          <a:ln w="7620">
            <a:solidFill>
              <a:srgbClr val="2335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589520" y="274320"/>
            <a:ext cx="0" cy="6126480"/>
          </a:xfrm>
          <a:prstGeom prst="line">
            <a:avLst/>
          </a:prstGeom>
          <a:ln w="7620">
            <a:solidFill>
              <a:srgbClr val="2335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921240" y="274320"/>
            <a:ext cx="0" cy="6126480"/>
          </a:xfrm>
          <a:prstGeom prst="line">
            <a:avLst/>
          </a:prstGeom>
          <a:ln w="7620">
            <a:solidFill>
              <a:srgbClr val="2335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978640" y="274320"/>
            <a:ext cx="0" cy="6126480"/>
          </a:xfrm>
          <a:prstGeom prst="line">
            <a:avLst/>
          </a:prstGeom>
          <a:ln w="7620">
            <a:solidFill>
              <a:srgbClr val="2335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65760" y="1005840"/>
            <a:ext cx="11475720" cy="0"/>
          </a:xfrm>
          <a:prstGeom prst="line">
            <a:avLst/>
          </a:prstGeom>
          <a:ln w="7620">
            <a:solidFill>
              <a:srgbClr val="2335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65760" y="2194560"/>
            <a:ext cx="11475720" cy="0"/>
          </a:xfrm>
          <a:prstGeom prst="line">
            <a:avLst/>
          </a:prstGeom>
          <a:ln w="7620">
            <a:solidFill>
              <a:srgbClr val="2335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65760" y="3383280"/>
            <a:ext cx="11475720" cy="0"/>
          </a:xfrm>
          <a:prstGeom prst="line">
            <a:avLst/>
          </a:prstGeom>
          <a:ln w="7620">
            <a:solidFill>
              <a:srgbClr val="2335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65760" y="4572000"/>
            <a:ext cx="11475720" cy="0"/>
          </a:xfrm>
          <a:prstGeom prst="line">
            <a:avLst/>
          </a:prstGeom>
          <a:ln w="7620">
            <a:solidFill>
              <a:srgbClr val="2335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65760" y="5760720"/>
            <a:ext cx="11475720" cy="0"/>
          </a:xfrm>
          <a:prstGeom prst="line">
            <a:avLst/>
          </a:prstGeom>
          <a:ln w="7620">
            <a:solidFill>
              <a:srgbClr val="2335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530352"/>
            <a:ext cx="1783080" cy="292608"/>
          </a:xfrm>
          <a:prstGeom prst="roundRect">
            <a:avLst>
              <a:gd name="adj" fmla="val 8000"/>
            </a:avLst>
          </a:prstGeom>
          <a:solidFill>
            <a:srgbClr val="0F1928"/>
          </a:solidFill>
          <a:ln>
            <a:solidFill>
              <a:srgbClr val="32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39496"/>
            <a:ext cx="1783080" cy="25603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32D2E6"/>
                </a:solidFill>
                <a:latin typeface="Aptos"/>
              </a:rPr>
              <a:t>IBM BOB • ROUND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1417320"/>
            <a:ext cx="7498079" cy="7315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4600" b="1" i="0">
                <a:solidFill>
                  <a:srgbClr val="F4F8FC"/>
                </a:solidFill>
                <a:latin typeface="Aptos"/>
              </a:rPr>
              <a:t>PORTCONTROL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1417320"/>
            <a:ext cx="1051560" cy="7315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4600" b="1" i="0">
                <a:solidFill>
                  <a:srgbClr val="32D2E6"/>
                </a:solidFill>
                <a:latin typeface="Aptos"/>
              </a:rPr>
              <a:t>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" y="2267712"/>
            <a:ext cx="804672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A4B4C6"/>
                </a:solidFill>
                <a:latin typeface="Aptos"/>
              </a:rPr>
              <a:t>Predict congestion. Optimize operations. Act before the queue forms.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" y="2907792"/>
            <a:ext cx="813816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F4F8FC"/>
                </a:solidFill>
                <a:latin typeface="Aptos"/>
              </a:rPr>
              <a:t>Container Congestion Predictor &amp; Port Operations Optimiser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7512" y="3703320"/>
            <a:ext cx="2148840" cy="292608"/>
          </a:xfrm>
          <a:prstGeom prst="roundRect">
            <a:avLst>
              <a:gd name="adj" fmla="val 8000"/>
            </a:avLst>
          </a:prstGeom>
          <a:solidFill>
            <a:srgbClr val="0F1928"/>
          </a:solidFill>
          <a:ln>
            <a:solidFill>
              <a:srgbClr val="4B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" y="3712463"/>
            <a:ext cx="2148840" cy="25603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4B82FF"/>
                </a:solidFill>
                <a:latin typeface="Aptos"/>
              </a:rPr>
              <a:t>L1 — LOGISTICS &amp; PORTS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71800" y="3703320"/>
            <a:ext cx="1965960" cy="292608"/>
          </a:xfrm>
          <a:prstGeom prst="roundRect">
            <a:avLst>
              <a:gd name="adj" fmla="val 8000"/>
            </a:avLst>
          </a:prstGeom>
          <a:solidFill>
            <a:srgbClr val="0F1928"/>
          </a:solidFill>
          <a:ln>
            <a:solidFill>
              <a:srgbClr val="41D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71800" y="3712463"/>
            <a:ext cx="1965960" cy="25603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41DC96"/>
                </a:solidFill>
                <a:latin typeface="Aptos"/>
              </a:rPr>
              <a:t>TEAM TECH TITANS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58200" y="1234440"/>
            <a:ext cx="2971800" cy="4389120"/>
          </a:xfrm>
          <a:prstGeom prst="roundRect">
            <a:avLst>
              <a:gd name="adj" fmla="val 8000"/>
            </a:avLst>
          </a:prstGeom>
          <a:solidFill>
            <a:srgbClr val="0F1928"/>
          </a:solidFill>
          <a:ln>
            <a:solidFill>
              <a:srgbClr val="2335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32520" y="1527048"/>
            <a:ext cx="237744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32D2E6"/>
                </a:solidFill>
                <a:latin typeface="Aptos"/>
              </a:rPr>
              <a:t>LIVE PORT SIGNAL</a:t>
            </a:r>
          </a:p>
        </p:txBody>
      </p:sp>
      <p:sp>
        <p:nvSpPr>
          <p:cNvPr id="25" name="Oval 24"/>
          <p:cNvSpPr/>
          <p:nvPr/>
        </p:nvSpPr>
        <p:spPr>
          <a:xfrm>
            <a:off x="9372600" y="2103120"/>
            <a:ext cx="2286000" cy="2286000"/>
          </a:xfrm>
          <a:prstGeom prst="ellipse">
            <a:avLst/>
          </a:prstGeom>
          <a:noFill/>
          <a:ln w="16510">
            <a:solidFill>
              <a:srgbClr val="2335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692640" y="2423160"/>
            <a:ext cx="1645920" cy="1645920"/>
          </a:xfrm>
          <a:prstGeom prst="ellipse">
            <a:avLst/>
          </a:prstGeom>
          <a:noFill/>
          <a:ln w="16510">
            <a:solidFill>
              <a:srgbClr val="2335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012680" y="2743200"/>
            <a:ext cx="1005840" cy="1005840"/>
          </a:xfrm>
          <a:prstGeom prst="ellipse">
            <a:avLst/>
          </a:prstGeom>
          <a:noFill/>
          <a:ln w="16510">
            <a:solidFill>
              <a:srgbClr val="32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10515600" y="2103120"/>
            <a:ext cx="0" cy="2286000"/>
          </a:xfrm>
          <a:prstGeom prst="line">
            <a:avLst/>
          </a:prstGeom>
          <a:ln w="12700">
            <a:solidFill>
              <a:srgbClr val="3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372600" y="3246120"/>
            <a:ext cx="2286000" cy="0"/>
          </a:xfrm>
          <a:prstGeom prst="line">
            <a:avLst/>
          </a:prstGeom>
          <a:ln w="12700">
            <a:solidFill>
              <a:srgbClr val="3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9784080" y="2743200"/>
            <a:ext cx="164592" cy="164592"/>
          </a:xfrm>
          <a:prstGeom prst="ellipse">
            <a:avLst/>
          </a:prstGeom>
          <a:solidFill>
            <a:srgbClr val="FFB946"/>
          </a:solidFill>
          <a:ln>
            <a:solidFill>
              <a:srgbClr val="FFB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789920" y="2560320"/>
            <a:ext cx="164592" cy="164592"/>
          </a:xfrm>
          <a:prstGeom prst="ellipse">
            <a:avLst/>
          </a:prstGeom>
          <a:solidFill>
            <a:srgbClr val="41DC96"/>
          </a:solidFill>
          <a:ln>
            <a:solidFill>
              <a:srgbClr val="41D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972800" y="3657600"/>
            <a:ext cx="164592" cy="164592"/>
          </a:xfrm>
          <a:prstGeom prst="ellipse">
            <a:avLst/>
          </a:prstGeom>
          <a:solidFill>
            <a:srgbClr val="FF5C69"/>
          </a:solidFill>
          <a:ln>
            <a:solidFill>
              <a:srgbClr val="FF5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966960" y="3840480"/>
            <a:ext cx="164592" cy="164592"/>
          </a:xfrm>
          <a:prstGeom prst="ellipse">
            <a:avLst/>
          </a:prstGeom>
          <a:solidFill>
            <a:srgbClr val="32D2E6"/>
          </a:solidFill>
          <a:ln>
            <a:solidFill>
              <a:srgbClr val="32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81160" y="4709160"/>
            <a:ext cx="731520" cy="3657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F4F8FC"/>
                </a:solidFill>
                <a:latin typeface="Aptos"/>
              </a:rPr>
              <a:t>72h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21240" y="4736592"/>
            <a:ext cx="128016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A4B4C6"/>
                </a:solidFill>
                <a:latin typeface="Aptos"/>
              </a:rPr>
              <a:t>prediction horizon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648" y="6510528"/>
            <a:ext cx="804672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1" i="0">
                <a:solidFill>
                  <a:srgbClr val="A4B4C6"/>
                </a:solidFill>
                <a:latin typeface="Aptos"/>
              </a:rPr>
              <a:t>TECH TITANS  •  IBM BOB AI INNOVATION HACKATHON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5440" y="6510528"/>
            <a:ext cx="233172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50" b="1" i="0">
                <a:solidFill>
                  <a:srgbClr val="A4B4C6"/>
                </a:solidFill>
                <a:latin typeface="Aptos"/>
              </a:rPr>
              <a:t>L1  •  PORT OPERATIONS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4114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32D2E6"/>
                </a:solidFill>
                <a:latin typeface="Aptos"/>
              </a:rPr>
              <a:t>01 •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881360" cy="5943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F4F8FC"/>
                </a:solidFill>
                <a:latin typeface="Aptos"/>
              </a:rPr>
              <a:t>When congestion is detected late, every decision gets expensive.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353312"/>
            <a:ext cx="10698480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A4B4C6"/>
                </a:solidFill>
                <a:latin typeface="Aptos"/>
              </a:rPr>
              <a:t>Port operations are tightly coupled: a delayed berth cascades into cranes, queues, rerouting and shift planning.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810512"/>
            <a:ext cx="11000232" cy="0"/>
          </a:xfrm>
          <a:prstGeom prst="line">
            <a:avLst/>
          </a:prstGeom>
          <a:ln w="12700">
            <a:solidFill>
              <a:srgbClr val="2335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109960" y="393192"/>
            <a:ext cx="5029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A4B4C6"/>
                </a:solidFill>
                <a:latin typeface="Aptos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148840"/>
            <a:ext cx="6583680" cy="3977639"/>
          </a:xfrm>
          <a:prstGeom prst="roundRect">
            <a:avLst>
              <a:gd name="adj" fmla="val 8000"/>
            </a:avLst>
          </a:prstGeom>
          <a:solidFill>
            <a:srgbClr val="0F1928"/>
          </a:solidFill>
          <a:ln>
            <a:solidFill>
              <a:srgbClr val="2335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2423160"/>
            <a:ext cx="438912" cy="292608"/>
          </a:xfrm>
          <a:prstGeom prst="roundRect">
            <a:avLst>
              <a:gd name="adj" fmla="val 8000"/>
            </a:avLst>
          </a:prstGeom>
          <a:solidFill>
            <a:srgbClr val="142235"/>
          </a:solidFill>
          <a:ln>
            <a:solidFill>
              <a:srgbClr val="FFB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32303"/>
            <a:ext cx="438912" cy="25603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B946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2414016"/>
            <a:ext cx="192024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FFB946"/>
                </a:solidFill>
                <a:latin typeface="Aptos"/>
              </a:rPr>
              <a:t>VESSEL ARRIVALS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404872"/>
            <a:ext cx="3474720" cy="4572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F4F8FC"/>
                </a:solidFill>
                <a:latin typeface="Aptos"/>
              </a:rPr>
              <a:t>Clusters form around constrained berths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78992" y="2734056"/>
            <a:ext cx="0" cy="448056"/>
          </a:xfrm>
          <a:prstGeom prst="line">
            <a:avLst/>
          </a:prstGeom>
          <a:ln w="12700">
            <a:solidFill>
              <a:srgbClr val="2335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68680" y="3264408"/>
            <a:ext cx="438912" cy="292608"/>
          </a:xfrm>
          <a:prstGeom prst="roundRect">
            <a:avLst>
              <a:gd name="adj" fmla="val 8000"/>
            </a:avLst>
          </a:prstGeom>
          <a:solidFill>
            <a:srgbClr val="142235"/>
          </a:solidFill>
          <a:ln>
            <a:solidFill>
              <a:srgbClr val="FF5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273551"/>
            <a:ext cx="438912" cy="25603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5C69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3255264"/>
            <a:ext cx="192024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FF5C69"/>
                </a:solidFill>
                <a:latin typeface="Aptos"/>
              </a:rPr>
              <a:t>REACTIVE DETECTION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3246120"/>
            <a:ext cx="3474720" cy="4572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F4F8FC"/>
                </a:solidFill>
                <a:latin typeface="Aptos"/>
              </a:rPr>
              <a:t>Congestion is recognized after queues build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78992" y="3575303"/>
            <a:ext cx="0" cy="448056"/>
          </a:xfrm>
          <a:prstGeom prst="line">
            <a:avLst/>
          </a:prstGeom>
          <a:ln w="12700">
            <a:solidFill>
              <a:srgbClr val="2335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68680" y="4105656"/>
            <a:ext cx="438912" cy="292608"/>
          </a:xfrm>
          <a:prstGeom prst="roundRect">
            <a:avLst>
              <a:gd name="adj" fmla="val 8000"/>
            </a:avLst>
          </a:prstGeom>
          <a:solidFill>
            <a:srgbClr val="142235"/>
          </a:solidFill>
          <a:ln>
            <a:solidFill>
              <a:srgbClr val="A6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114800"/>
            <a:ext cx="438912" cy="25603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A66EFF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1328" y="4096512"/>
            <a:ext cx="192024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A66EFF"/>
                </a:solidFill>
                <a:latin typeface="Aptos"/>
              </a:rPr>
              <a:t>MANUAL ALLOCATION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4087368"/>
            <a:ext cx="3474720" cy="4572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F4F8FC"/>
                </a:solidFill>
                <a:latin typeface="Aptos"/>
              </a:rPr>
              <a:t>Berths &amp; cranes are assigned with conflict risk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78992" y="4416552"/>
            <a:ext cx="0" cy="448056"/>
          </a:xfrm>
          <a:prstGeom prst="line">
            <a:avLst/>
          </a:prstGeom>
          <a:ln w="12700">
            <a:solidFill>
              <a:srgbClr val="2335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68680" y="4946904"/>
            <a:ext cx="438912" cy="292608"/>
          </a:xfrm>
          <a:prstGeom prst="roundRect">
            <a:avLst>
              <a:gd name="adj" fmla="val 8000"/>
            </a:avLst>
          </a:prstGeom>
          <a:solidFill>
            <a:srgbClr val="142235"/>
          </a:solidFill>
          <a:ln>
            <a:solidFill>
              <a:srgbClr val="4B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956048"/>
            <a:ext cx="438912" cy="25603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4B82FF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4937760"/>
            <a:ext cx="192024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4B82FF"/>
                </a:solidFill>
                <a:latin typeface="Aptos"/>
              </a:rPr>
              <a:t>LATE REROUTING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40" y="4928616"/>
            <a:ext cx="3474720" cy="4572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F4F8FC"/>
                </a:solidFill>
                <a:latin typeface="Aptos"/>
              </a:rPr>
              <a:t>Alternate routing decisions arrive too late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98079" y="2148840"/>
            <a:ext cx="4069080" cy="3977639"/>
          </a:xfrm>
          <a:prstGeom prst="roundRect">
            <a:avLst>
              <a:gd name="adj" fmla="val 8000"/>
            </a:avLst>
          </a:prstGeom>
          <a:solidFill>
            <a:srgbClr val="142235"/>
          </a:solidFill>
          <a:ln>
            <a:solidFill>
              <a:srgbClr val="2335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18120" y="2468880"/>
            <a:ext cx="338328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F5C69"/>
                </a:solidFill>
                <a:latin typeface="Aptos"/>
              </a:rPr>
              <a:t>THE COST OF WAITING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8120" y="2971800"/>
            <a:ext cx="123444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A4B4C6"/>
                </a:solidFill>
                <a:latin typeface="Aptos"/>
              </a:rPr>
              <a:t>QUEUE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98280" y="2944368"/>
            <a:ext cx="2103120" cy="4114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F4F8FC"/>
                </a:solidFill>
                <a:latin typeface="Aptos"/>
              </a:rPr>
              <a:t>Vessels wait longer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18120" y="3685032"/>
            <a:ext cx="123444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A4B4C6"/>
                </a:solidFill>
                <a:latin typeface="Aptos"/>
              </a:rPr>
              <a:t>YARD / CRANE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98280" y="3657600"/>
            <a:ext cx="2103120" cy="4114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F4F8FC"/>
                </a:solidFill>
                <a:latin typeface="Aptos"/>
              </a:rPr>
              <a:t>Resources become unbalanced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18120" y="4398264"/>
            <a:ext cx="123444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A4B4C6"/>
                </a:solidFill>
                <a:latin typeface="Aptos"/>
              </a:rPr>
              <a:t>OPERATIONS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8280" y="4370832"/>
            <a:ext cx="2103120" cy="4114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F4F8FC"/>
                </a:solidFill>
                <a:latin typeface="Aptos"/>
              </a:rPr>
              <a:t>Supervisors plan reactively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18120" y="5111496"/>
            <a:ext cx="123444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A4B4C6"/>
                </a:solidFill>
                <a:latin typeface="Aptos"/>
              </a:rPr>
              <a:t>CUSTOMER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98280" y="5084064"/>
            <a:ext cx="2103120" cy="4114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F4F8FC"/>
                </a:solidFill>
                <a:latin typeface="Aptos"/>
              </a:rPr>
              <a:t>ETA reliability deteriorates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" y="6510528"/>
            <a:ext cx="804672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1" i="0">
                <a:solidFill>
                  <a:srgbClr val="A4B4C6"/>
                </a:solidFill>
                <a:latin typeface="Aptos"/>
              </a:rPr>
              <a:t>TECH TITANS  •  IBM BOB AI INNOVATION HACKATHON 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35440" y="6510528"/>
            <a:ext cx="233172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50" b="1" i="0">
                <a:solidFill>
                  <a:srgbClr val="A4B4C6"/>
                </a:solidFill>
                <a:latin typeface="Aptos"/>
              </a:rPr>
              <a:t>L1  •  PORT OPERATIONS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4114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32D2E6"/>
                </a:solidFill>
                <a:latin typeface="Aptos"/>
              </a:rPr>
              <a:t>02 •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881360" cy="5943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F4F8FC"/>
                </a:solidFill>
                <a:latin typeface="Aptos"/>
              </a:rPr>
              <a:t>One control center turns port telemetry into coordinated decisions.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353312"/>
            <a:ext cx="10698480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A4B4C6"/>
                </a:solidFill>
                <a:latin typeface="Aptos"/>
              </a:rPr>
              <a:t>PortControl AI combines prediction, optimization and operational planning in a single supervisor workflow.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810512"/>
            <a:ext cx="11000232" cy="0"/>
          </a:xfrm>
          <a:prstGeom prst="line">
            <a:avLst/>
          </a:prstGeom>
          <a:ln w="12700">
            <a:solidFill>
              <a:srgbClr val="2335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109960" y="393192"/>
            <a:ext cx="5029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A4B4C6"/>
                </a:solidFill>
                <a:latin typeface="Aptos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48840"/>
            <a:ext cx="3401568" cy="1444752"/>
          </a:xfrm>
          <a:prstGeom prst="roundRect">
            <a:avLst>
              <a:gd name="adj" fmla="val 8000"/>
            </a:avLst>
          </a:prstGeom>
          <a:solidFill>
            <a:srgbClr val="0F1928"/>
          </a:solidFill>
          <a:ln>
            <a:solidFill>
              <a:srgbClr val="2335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148840"/>
            <a:ext cx="64008" cy="1444752"/>
          </a:xfrm>
          <a:prstGeom prst="rect">
            <a:avLst/>
          </a:prstGeom>
          <a:solidFill>
            <a:srgbClr val="32D2E6"/>
          </a:solidFill>
          <a:ln>
            <a:solidFill>
              <a:srgbClr val="32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77440"/>
            <a:ext cx="274320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32D2E6"/>
                </a:solidFill>
                <a:latin typeface="Aptos"/>
              </a:rPr>
              <a:t>CONGESTION
PREDICTOR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80944"/>
            <a:ext cx="2788920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F4F8FC"/>
                </a:solidFill>
                <a:latin typeface="Aptos"/>
              </a:rPr>
              <a:t>0–100 risk index
+ explainable causes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148840"/>
            <a:ext cx="3401568" cy="1444752"/>
          </a:xfrm>
          <a:prstGeom prst="roundRect">
            <a:avLst>
              <a:gd name="adj" fmla="val 8000"/>
            </a:avLst>
          </a:prstGeom>
          <a:solidFill>
            <a:srgbClr val="0F1928"/>
          </a:solidFill>
          <a:ln>
            <a:solidFill>
              <a:srgbClr val="2335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2148840"/>
            <a:ext cx="64008" cy="1444752"/>
          </a:xfrm>
          <a:prstGeom prst="rect">
            <a:avLst/>
          </a:prstGeom>
          <a:solidFill>
            <a:srgbClr val="4B82FF"/>
          </a:solidFill>
          <a:ln>
            <a:solidFill>
              <a:srgbClr val="4B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45152" y="2377440"/>
            <a:ext cx="274320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4B82FF"/>
                </a:solidFill>
                <a:latin typeface="Aptos"/>
              </a:rPr>
              <a:t>BERTH
OPTIMIZER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2980944"/>
            <a:ext cx="2788920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F4F8FC"/>
                </a:solidFill>
                <a:latin typeface="Aptos"/>
              </a:rPr>
              <a:t>Constraint-based
conflict-free matching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2" y="2148840"/>
            <a:ext cx="3401568" cy="1444752"/>
          </a:xfrm>
          <a:prstGeom prst="roundRect">
            <a:avLst>
              <a:gd name="adj" fmla="val 8000"/>
            </a:avLst>
          </a:prstGeom>
          <a:solidFill>
            <a:srgbClr val="0F1928"/>
          </a:solidFill>
          <a:ln>
            <a:solidFill>
              <a:srgbClr val="2335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19872" y="2148840"/>
            <a:ext cx="64008" cy="1444752"/>
          </a:xfrm>
          <a:prstGeom prst="rect">
            <a:avLst/>
          </a:prstGeom>
          <a:solidFill>
            <a:srgbClr val="41DC96"/>
          </a:solidFill>
          <a:ln>
            <a:solidFill>
              <a:srgbClr val="41D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4" y="2377440"/>
            <a:ext cx="274320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41DC96"/>
                </a:solidFill>
                <a:latin typeface="Aptos"/>
              </a:rPr>
              <a:t>CRANE
ALLOCATOR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5904" y="2980944"/>
            <a:ext cx="2788920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F4F8FC"/>
                </a:solidFill>
                <a:latin typeface="Aptos"/>
              </a:rPr>
              <a:t>TEU/hr capacity
+ vessel priority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931920"/>
            <a:ext cx="3401568" cy="1444752"/>
          </a:xfrm>
          <a:prstGeom prst="roundRect">
            <a:avLst>
              <a:gd name="adj" fmla="val 8000"/>
            </a:avLst>
          </a:prstGeom>
          <a:solidFill>
            <a:srgbClr val="0F1928"/>
          </a:solidFill>
          <a:ln>
            <a:solidFill>
              <a:srgbClr val="2335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3931920"/>
            <a:ext cx="64008" cy="1444752"/>
          </a:xfrm>
          <a:prstGeom prst="rect">
            <a:avLst/>
          </a:prstGeom>
          <a:solidFill>
            <a:srgbClr val="FFB946"/>
          </a:solidFill>
          <a:ln>
            <a:solidFill>
              <a:srgbClr val="FFB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160520"/>
            <a:ext cx="274320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FFB946"/>
                </a:solidFill>
                <a:latin typeface="Aptos"/>
              </a:rPr>
              <a:t>ROUTING
ENGINE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764024"/>
            <a:ext cx="2788920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F4F8FC"/>
                </a:solidFill>
                <a:latin typeface="Aptos"/>
              </a:rPr>
              <a:t>Diversions, berth
switches, slow-steam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3931920"/>
            <a:ext cx="3401568" cy="1444752"/>
          </a:xfrm>
          <a:prstGeom prst="roundRect">
            <a:avLst>
              <a:gd name="adj" fmla="val 8000"/>
            </a:avLst>
          </a:prstGeom>
          <a:solidFill>
            <a:srgbClr val="0F1928"/>
          </a:solidFill>
          <a:ln>
            <a:solidFill>
              <a:srgbClr val="2335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89120" y="3931920"/>
            <a:ext cx="64008" cy="1444752"/>
          </a:xfrm>
          <a:prstGeom prst="rect">
            <a:avLst/>
          </a:prstGeom>
          <a:solidFill>
            <a:srgbClr val="A66EFF"/>
          </a:solidFill>
          <a:ln>
            <a:solidFill>
              <a:srgbClr val="A6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45152" y="4160520"/>
            <a:ext cx="274320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A66EFF"/>
                </a:solidFill>
                <a:latin typeface="Aptos"/>
              </a:rPr>
              <a:t>72-HOUR
PLAN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45152" y="4764024"/>
            <a:ext cx="2788920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F4F8FC"/>
                </a:solidFill>
                <a:latin typeface="Aptos"/>
              </a:rPr>
              <a:t>6-hour blocks
+ actions + risk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19872" y="3931920"/>
            <a:ext cx="3401568" cy="1444752"/>
          </a:xfrm>
          <a:prstGeom prst="roundRect">
            <a:avLst>
              <a:gd name="adj" fmla="val 8000"/>
            </a:avLst>
          </a:prstGeom>
          <a:solidFill>
            <a:srgbClr val="0F1928"/>
          </a:solidFill>
          <a:ln>
            <a:solidFill>
              <a:srgbClr val="2335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19872" y="3931920"/>
            <a:ext cx="64008" cy="1444752"/>
          </a:xfrm>
          <a:prstGeom prst="rect">
            <a:avLst/>
          </a:prstGeom>
          <a:solidFill>
            <a:srgbClr val="FF5C69"/>
          </a:solidFill>
          <a:ln>
            <a:solidFill>
              <a:srgbClr val="FF5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75904" y="4160520"/>
            <a:ext cx="274320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FF5C69"/>
                </a:solidFill>
                <a:latin typeface="Aptos"/>
              </a:rPr>
              <a:t>BOB
COPILOT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75904" y="4764024"/>
            <a:ext cx="2788920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F4F8FC"/>
                </a:solidFill>
                <a:latin typeface="Aptos"/>
              </a:rPr>
              <a:t>Context-aware AI
+ MCP tools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925312"/>
            <a:ext cx="10927080" cy="365760"/>
          </a:xfrm>
          <a:prstGeom prst="roundRect">
            <a:avLst>
              <a:gd name="adj" fmla="val 8000"/>
            </a:avLst>
          </a:prstGeom>
          <a:solidFill>
            <a:srgbClr val="142235"/>
          </a:solidFill>
          <a:ln>
            <a:solidFill>
              <a:srgbClr val="2335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5980176"/>
            <a:ext cx="10515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100" b="1">
                <a:solidFill>
                  <a:srgbClr val="A4B4C6"/>
                </a:solidFill>
                <a:latin typeface="Aptos"/>
              </a:rPr>
              <a:t>TELEMETRY  →  </a:t>
            </a:r>
            <a:r>
              <a:rPr sz="1100" b="1">
                <a:solidFill>
                  <a:srgbClr val="32D2E6"/>
                </a:solidFill>
                <a:latin typeface="Aptos"/>
              </a:rPr>
              <a:t>PREDICT</a:t>
            </a:r>
            <a:r>
              <a:rPr sz="1100" b="1">
                <a:solidFill>
                  <a:srgbClr val="A4B4C6"/>
                </a:solidFill>
                <a:latin typeface="Aptos"/>
              </a:rPr>
              <a:t>  →  </a:t>
            </a:r>
            <a:r>
              <a:rPr sz="1100" b="1">
                <a:solidFill>
                  <a:srgbClr val="41DC96"/>
                </a:solidFill>
                <a:latin typeface="Aptos"/>
              </a:rPr>
              <a:t>OPTIMIZE</a:t>
            </a:r>
            <a:r>
              <a:rPr sz="1100" b="1">
                <a:solidFill>
                  <a:srgbClr val="A4B4C6"/>
                </a:solidFill>
                <a:latin typeface="Aptos"/>
              </a:rPr>
              <a:t>  →  </a:t>
            </a:r>
            <a:r>
              <a:rPr sz="1100" b="1">
                <a:solidFill>
                  <a:srgbClr val="FFB946"/>
                </a:solidFill>
                <a:latin typeface="Aptos"/>
              </a:rPr>
              <a:t>RECOMMEND</a:t>
            </a:r>
            <a:r>
              <a:rPr sz="1100" b="1">
                <a:solidFill>
                  <a:srgbClr val="A4B4C6"/>
                </a:solidFill>
                <a:latin typeface="Aptos"/>
              </a:rPr>
              <a:t>  →  </a:t>
            </a:r>
            <a:r>
              <a:rPr sz="1100" b="1">
                <a:solidFill>
                  <a:srgbClr val="A66EFF"/>
                </a:solidFill>
                <a:latin typeface="Aptos"/>
              </a:rPr>
              <a:t>PLAN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" y="6510528"/>
            <a:ext cx="804672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1" i="0">
                <a:solidFill>
                  <a:srgbClr val="A4B4C6"/>
                </a:solidFill>
                <a:latin typeface="Aptos"/>
              </a:rPr>
              <a:t>TECH TITANS  •  IBM BOB AI INNOVATION HACKATHON 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5440" y="6510528"/>
            <a:ext cx="233172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50" b="1" i="0">
                <a:solidFill>
                  <a:srgbClr val="A4B4C6"/>
                </a:solidFill>
                <a:latin typeface="Aptos"/>
              </a:rPr>
              <a:t>L1  •  PORT OPERATIONS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4114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32D2E6"/>
                </a:solidFill>
                <a:latin typeface="Aptos"/>
              </a:rPr>
              <a:t>03 • DEMO +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881360" cy="5943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F4F8FC"/>
                </a:solidFill>
                <a:latin typeface="Aptos"/>
              </a:rPr>
              <a:t>From live port state to an executable 72-hour plan.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353312"/>
            <a:ext cx="10698480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A4B4C6"/>
                </a:solidFill>
                <a:latin typeface="Aptos"/>
              </a:rPr>
              <a:t>The interface is designed around the shift supervisor's decision loop.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810512"/>
            <a:ext cx="11000232" cy="0"/>
          </a:xfrm>
          <a:prstGeom prst="line">
            <a:avLst/>
          </a:prstGeom>
          <a:ln w="12700">
            <a:solidFill>
              <a:srgbClr val="2335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109960" y="393192"/>
            <a:ext cx="5029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A4B4C6"/>
                </a:solidFill>
                <a:latin typeface="Aptos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331720"/>
            <a:ext cx="1691640" cy="1078992"/>
          </a:xfrm>
          <a:prstGeom prst="roundRect">
            <a:avLst>
              <a:gd name="adj" fmla="val 8000"/>
            </a:avLst>
          </a:prstGeom>
          <a:solidFill>
            <a:srgbClr val="0F1928"/>
          </a:solidFill>
          <a:ln>
            <a:solidFill>
              <a:srgbClr val="32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2615184"/>
            <a:ext cx="1472184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32D2E6"/>
                </a:solidFill>
                <a:latin typeface="Aptos"/>
              </a:rPr>
              <a:t>PORT
TELEMETRY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377440" y="2871215"/>
            <a:ext cx="411480" cy="0"/>
          </a:xfrm>
          <a:prstGeom prst="line">
            <a:avLst/>
          </a:prstGeom>
          <a:ln w="19050">
            <a:solidFill>
              <a:srgbClr val="A4B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788920" y="2331720"/>
            <a:ext cx="1691640" cy="1078992"/>
          </a:xfrm>
          <a:prstGeom prst="roundRect">
            <a:avLst>
              <a:gd name="adj" fmla="val 8000"/>
            </a:avLst>
          </a:prstGeom>
          <a:solidFill>
            <a:srgbClr val="0F1928"/>
          </a:solidFill>
          <a:ln>
            <a:solidFill>
              <a:srgbClr val="FF5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98648" y="2615184"/>
            <a:ext cx="1472184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FF5C69"/>
                </a:solidFill>
                <a:latin typeface="Aptos"/>
              </a:rPr>
              <a:t>RISK &amp;
HOTSPOTS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480560" y="2871215"/>
            <a:ext cx="411480" cy="0"/>
          </a:xfrm>
          <a:prstGeom prst="line">
            <a:avLst/>
          </a:prstGeom>
          <a:ln w="19050">
            <a:solidFill>
              <a:srgbClr val="A4B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892040" y="2331720"/>
            <a:ext cx="1691640" cy="1078992"/>
          </a:xfrm>
          <a:prstGeom prst="roundRect">
            <a:avLst>
              <a:gd name="adj" fmla="val 8000"/>
            </a:avLst>
          </a:prstGeom>
          <a:solidFill>
            <a:srgbClr val="0F1928"/>
          </a:solidFill>
          <a:ln>
            <a:solidFill>
              <a:srgbClr val="41D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1768" y="2615184"/>
            <a:ext cx="1472184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41DC96"/>
                </a:solidFill>
                <a:latin typeface="Aptos"/>
              </a:rPr>
              <a:t>BERTH + CRANE
OPTIMIZATION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583679" y="2871215"/>
            <a:ext cx="640081" cy="0"/>
          </a:xfrm>
          <a:prstGeom prst="line">
            <a:avLst/>
          </a:prstGeom>
          <a:ln w="19050">
            <a:solidFill>
              <a:srgbClr val="A4B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223760" y="2331720"/>
            <a:ext cx="1691640" cy="1078992"/>
          </a:xfrm>
          <a:prstGeom prst="roundRect">
            <a:avLst>
              <a:gd name="adj" fmla="val 8000"/>
            </a:avLst>
          </a:prstGeom>
          <a:solidFill>
            <a:srgbClr val="0F1928"/>
          </a:solidFill>
          <a:ln>
            <a:solidFill>
              <a:srgbClr val="FFB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33488" y="2615184"/>
            <a:ext cx="1472184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FFB946"/>
                </a:solidFill>
                <a:latin typeface="Aptos"/>
              </a:rPr>
              <a:t>ROUTING
RECOMMENDATION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915400" y="2871215"/>
            <a:ext cx="548640" cy="0"/>
          </a:xfrm>
          <a:prstGeom prst="line">
            <a:avLst/>
          </a:prstGeom>
          <a:ln w="19050">
            <a:solidFill>
              <a:srgbClr val="A4B4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464040" y="2331720"/>
            <a:ext cx="1691640" cy="1078992"/>
          </a:xfrm>
          <a:prstGeom prst="roundRect">
            <a:avLst>
              <a:gd name="adj" fmla="val 8000"/>
            </a:avLst>
          </a:prstGeom>
          <a:solidFill>
            <a:srgbClr val="0F1928"/>
          </a:solidFill>
          <a:ln>
            <a:solidFill>
              <a:srgbClr val="A6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73767" y="2615184"/>
            <a:ext cx="1472184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A66EFF"/>
                </a:solidFill>
                <a:latin typeface="Aptos"/>
              </a:rPr>
              <a:t>72-HOUR
OPS PLAN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931920"/>
            <a:ext cx="10927080" cy="1691640"/>
          </a:xfrm>
          <a:prstGeom prst="roundRect">
            <a:avLst>
              <a:gd name="adj" fmla="val 8000"/>
            </a:avLst>
          </a:prstGeom>
          <a:solidFill>
            <a:srgbClr val="142235"/>
          </a:solidFill>
          <a:ln>
            <a:solidFill>
              <a:srgbClr val="2335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1879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32D2E6"/>
                </a:solidFill>
                <a:latin typeface="Aptos"/>
              </a:rPr>
              <a:t>LIVE DEMO JOURNEY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4590288"/>
            <a:ext cx="1143000" cy="292608"/>
          </a:xfrm>
          <a:prstGeom prst="roundRect">
            <a:avLst>
              <a:gd name="adj" fmla="val 8000"/>
            </a:avLst>
          </a:prstGeom>
          <a:solidFill>
            <a:srgbClr val="0F1928"/>
          </a:solidFill>
          <a:ln>
            <a:solidFill>
              <a:srgbClr val="32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599431"/>
            <a:ext cx="1143000" cy="25603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32D2E6"/>
                </a:solidFill>
                <a:latin typeface="Aptos"/>
              </a:rPr>
              <a:t>Dashboard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001768"/>
            <a:ext cx="214884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4F8FC"/>
                </a:solidFill>
                <a:latin typeface="Aptos"/>
              </a:rPr>
              <a:t>22 vessels • 11 at risk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20440" y="4590288"/>
            <a:ext cx="1143000" cy="292608"/>
          </a:xfrm>
          <a:prstGeom prst="roundRect">
            <a:avLst>
              <a:gd name="adj" fmla="val 8000"/>
            </a:avLst>
          </a:prstGeom>
          <a:solidFill>
            <a:srgbClr val="0F1928"/>
          </a:solidFill>
          <a:ln>
            <a:solidFill>
              <a:srgbClr val="FF5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20440" y="4599431"/>
            <a:ext cx="1143000" cy="25603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5C69"/>
                </a:solidFill>
                <a:latin typeface="Aptos"/>
              </a:rPr>
              <a:t>Congestion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20440" y="5001768"/>
            <a:ext cx="214884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4F8FC"/>
                </a:solidFill>
                <a:latin typeface="Aptos"/>
              </a:rPr>
              <a:t>3 congested berths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26480" y="4590288"/>
            <a:ext cx="1143000" cy="292608"/>
          </a:xfrm>
          <a:prstGeom prst="roundRect">
            <a:avLst>
              <a:gd name="adj" fmla="val 8000"/>
            </a:avLst>
          </a:prstGeom>
          <a:solidFill>
            <a:srgbClr val="0F1928"/>
          </a:solidFill>
          <a:ln>
            <a:solidFill>
              <a:srgbClr val="41D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26480" y="4599431"/>
            <a:ext cx="1143000" cy="25603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41DC96"/>
                </a:solidFill>
                <a:latin typeface="Aptos"/>
              </a:rPr>
              <a:t>Optimization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5001768"/>
            <a:ext cx="214884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4F8FC"/>
                </a:solidFill>
                <a:latin typeface="Aptos"/>
              </a:rPr>
              <a:t>Berth + crane assignments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732520" y="4590288"/>
            <a:ext cx="1143000" cy="292608"/>
          </a:xfrm>
          <a:prstGeom prst="roundRect">
            <a:avLst>
              <a:gd name="adj" fmla="val 8000"/>
            </a:avLst>
          </a:prstGeom>
          <a:solidFill>
            <a:srgbClr val="0F1928"/>
          </a:solidFill>
          <a:ln>
            <a:solidFill>
              <a:srgbClr val="A6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32520" y="4599431"/>
            <a:ext cx="1143000" cy="25603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A66EFF"/>
                </a:solidFill>
                <a:latin typeface="Aptos"/>
              </a:rPr>
              <a:t>Plan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32520" y="5001768"/>
            <a:ext cx="214884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4F8FC"/>
                </a:solidFill>
                <a:latin typeface="Aptos"/>
              </a:rPr>
              <a:t>72h / 6h shift blocks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806440"/>
            <a:ext cx="804672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A4B4C6"/>
                </a:solidFill>
                <a:latin typeface="Aptos"/>
              </a:rPr>
              <a:t>Demo data is synthetic and designed to reproduce congestion / optimization scenarios.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648" y="6510528"/>
            <a:ext cx="804672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1" i="0">
                <a:solidFill>
                  <a:srgbClr val="A4B4C6"/>
                </a:solidFill>
                <a:latin typeface="Aptos"/>
              </a:rPr>
              <a:t>TECH TITANS  •  IBM BOB AI INNOVATION HACKATHON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5440" y="6510528"/>
            <a:ext cx="233172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50" b="1" i="0">
                <a:solidFill>
                  <a:srgbClr val="A4B4C6"/>
                </a:solidFill>
                <a:latin typeface="Aptos"/>
              </a:rPr>
              <a:t>L1  •  PORT OPERATIONS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4114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32D2E6"/>
                </a:solidFill>
                <a:latin typeface="Aptos"/>
              </a:rPr>
              <a:t>04 • IBM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881360" cy="5943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F4F8FC"/>
                </a:solidFill>
                <a:latin typeface="Aptos"/>
              </a:rPr>
              <a:t>IBM Bob is connected to the operational logic — not just the presentation.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353312"/>
            <a:ext cx="10698480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A4B4C6"/>
                </a:solidFill>
                <a:latin typeface="Aptos"/>
              </a:rPr>
              <a:t>Model Context Protocol exposes port intelligence as tools that Bob can invoke with operational context.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810512"/>
            <a:ext cx="11000232" cy="0"/>
          </a:xfrm>
          <a:prstGeom prst="line">
            <a:avLst/>
          </a:prstGeom>
          <a:ln w="12700">
            <a:solidFill>
              <a:srgbClr val="2335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109960" y="393192"/>
            <a:ext cx="5029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A4B4C6"/>
                </a:solidFill>
                <a:latin typeface="Aptos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03120"/>
            <a:ext cx="10927080" cy="3611880"/>
          </a:xfrm>
          <a:prstGeom prst="roundRect">
            <a:avLst>
              <a:gd name="adj" fmla="val 8000"/>
            </a:avLst>
          </a:prstGeom>
          <a:solidFill>
            <a:srgbClr val="0F1928"/>
          </a:solidFill>
          <a:ln>
            <a:solidFill>
              <a:srgbClr val="2335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05840" y="2880360"/>
            <a:ext cx="2057400" cy="1143000"/>
          </a:xfrm>
          <a:prstGeom prst="roundRect">
            <a:avLst>
              <a:gd name="adj" fmla="val 8000"/>
            </a:avLst>
          </a:prstGeom>
          <a:solidFill>
            <a:srgbClr val="142235"/>
          </a:solidFill>
          <a:ln>
            <a:solidFill>
              <a:srgbClr val="32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3108960"/>
            <a:ext cx="160020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2000" b="1" i="0">
                <a:solidFill>
                  <a:srgbClr val="F4F8FC"/>
                </a:solidFill>
                <a:latin typeface="Aptos"/>
              </a:rPr>
              <a:t>IBM BOB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511296"/>
            <a:ext cx="178308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A4B4C6"/>
                </a:solidFill>
                <a:latin typeface="Aptos"/>
              </a:rPr>
              <a:t>AI coding / agent layer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94760" y="2697480"/>
            <a:ext cx="2148840" cy="1508760"/>
          </a:xfrm>
          <a:prstGeom prst="roundRect">
            <a:avLst>
              <a:gd name="adj" fmla="val 8000"/>
            </a:avLst>
          </a:prstGeom>
          <a:solidFill>
            <a:srgbClr val="142235"/>
          </a:solidFill>
          <a:ln>
            <a:solidFill>
              <a:srgbClr val="A6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69080" y="2971800"/>
            <a:ext cx="160020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A66EFF"/>
                </a:solidFill>
                <a:latin typeface="Aptos"/>
              </a:rPr>
              <a:t>MCP SERVER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05072" y="3401568"/>
            <a:ext cx="1737360" cy="4572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A4B4C6"/>
                </a:solidFill>
                <a:latin typeface="Aptos"/>
              </a:rPr>
              <a:t>src/backend/
mcp_server.py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29400" y="2423160"/>
            <a:ext cx="4251960" cy="2057400"/>
          </a:xfrm>
          <a:prstGeom prst="roundRect">
            <a:avLst>
              <a:gd name="adj" fmla="val 8000"/>
            </a:avLst>
          </a:prstGeom>
          <a:solidFill>
            <a:srgbClr val="142235"/>
          </a:solidFill>
          <a:ln>
            <a:solidFill>
              <a:srgbClr val="41D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03720" y="2670048"/>
            <a:ext cx="370332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41DC96"/>
                </a:solidFill>
                <a:latin typeface="Aptos"/>
              </a:rPr>
              <a:t>PORT INTELLIGENCE TOOLS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3720" y="3200400"/>
            <a:ext cx="82296" cy="82296"/>
          </a:xfrm>
          <a:prstGeom prst="roundRect">
            <a:avLst>
              <a:gd name="adj" fmla="val 8000"/>
            </a:avLst>
          </a:prstGeom>
          <a:solidFill>
            <a:srgbClr val="41DC96"/>
          </a:solidFill>
          <a:ln>
            <a:solidFill>
              <a:srgbClr val="41D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68312" y="3127248"/>
            <a:ext cx="3218688" cy="4389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F4F8FC"/>
                </a:solidFill>
                <a:latin typeface="Aptos"/>
              </a:rPr>
              <a:t>port status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03720" y="3511296"/>
            <a:ext cx="82296" cy="82296"/>
          </a:xfrm>
          <a:prstGeom prst="roundRect">
            <a:avLst>
              <a:gd name="adj" fmla="val 8000"/>
            </a:avLst>
          </a:prstGeom>
          <a:solidFill>
            <a:srgbClr val="41DC96"/>
          </a:solidFill>
          <a:ln>
            <a:solidFill>
              <a:srgbClr val="41D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68312" y="3438144"/>
            <a:ext cx="3218688" cy="4389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F4F8FC"/>
                </a:solidFill>
                <a:latin typeface="Aptos"/>
              </a:rPr>
              <a:t>congestion hotspots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03720" y="3822191"/>
            <a:ext cx="82296" cy="82296"/>
          </a:xfrm>
          <a:prstGeom prst="roundRect">
            <a:avLst>
              <a:gd name="adj" fmla="val 8000"/>
            </a:avLst>
          </a:prstGeom>
          <a:solidFill>
            <a:srgbClr val="41DC96"/>
          </a:solidFill>
          <a:ln>
            <a:solidFill>
              <a:srgbClr val="41D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68312" y="3749039"/>
            <a:ext cx="3218688" cy="4389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F4F8FC"/>
                </a:solidFill>
                <a:latin typeface="Aptos"/>
              </a:rPr>
              <a:t>berth / crane logic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03720" y="4133087"/>
            <a:ext cx="82296" cy="82296"/>
          </a:xfrm>
          <a:prstGeom prst="roundRect">
            <a:avLst>
              <a:gd name="adj" fmla="val 8000"/>
            </a:avLst>
          </a:prstGeom>
          <a:solidFill>
            <a:srgbClr val="41DC96"/>
          </a:solidFill>
          <a:ln>
            <a:solidFill>
              <a:srgbClr val="41D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68312" y="4059935"/>
            <a:ext cx="3218688" cy="4389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F4F8FC"/>
                </a:solidFill>
                <a:latin typeface="Aptos"/>
              </a:rPr>
              <a:t>routing + 72h plan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063240" y="3456432"/>
            <a:ext cx="731520" cy="0"/>
          </a:xfrm>
          <a:prstGeom prst="line">
            <a:avLst/>
          </a:prstGeom>
          <a:ln w="25400">
            <a:solidFill>
              <a:srgbClr val="32D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943600" y="3456432"/>
            <a:ext cx="685800" cy="0"/>
          </a:xfrm>
          <a:prstGeom prst="line">
            <a:avLst/>
          </a:prstGeom>
          <a:ln w="25400">
            <a:solidFill>
              <a:srgbClr val="A66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005840" y="4709160"/>
            <a:ext cx="1737360" cy="292608"/>
          </a:xfrm>
          <a:prstGeom prst="roundRect">
            <a:avLst>
              <a:gd name="adj" fmla="val 8000"/>
            </a:avLst>
          </a:prstGeom>
          <a:solidFill>
            <a:srgbClr val="142235"/>
          </a:solidFill>
          <a:ln>
            <a:solidFill>
              <a:srgbClr val="32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4718304"/>
            <a:ext cx="1737360" cy="25603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900" b="1" i="0">
                <a:solidFill>
                  <a:srgbClr val="32D2E6"/>
                </a:solidFill>
                <a:latin typeface="Aptos"/>
              </a:rPr>
              <a:t>DASHBOARD COPILOT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71800" y="4709160"/>
            <a:ext cx="7498079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F4F8FC"/>
                </a:solidFill>
                <a:latin typeface="Aptos"/>
              </a:rPr>
              <a:t>Context-aware questions → recommendations using the same underlying service logic.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29400" y="5257800"/>
            <a:ext cx="777240" cy="292608"/>
          </a:xfrm>
          <a:prstGeom prst="roundRect">
            <a:avLst>
              <a:gd name="adj" fmla="val 8000"/>
            </a:avLst>
          </a:prstGeom>
          <a:solidFill>
            <a:srgbClr val="142235"/>
          </a:solidFill>
          <a:ln>
            <a:solidFill>
              <a:srgbClr val="FFB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29400" y="5266944"/>
            <a:ext cx="777240" cy="25603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900" b="1" i="0">
                <a:solidFill>
                  <a:srgbClr val="FFB946"/>
                </a:solidFill>
                <a:latin typeface="Aptos"/>
              </a:rPr>
              <a:t>OPTIONAL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43800" y="5239512"/>
            <a:ext cx="329184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A4B4C6"/>
                </a:solidFill>
                <a:latin typeface="Aptos"/>
              </a:rPr>
              <a:t>IBM watsonx.ai Granite REST integration can extend the assistant beyond deterministic local execution.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" y="6510528"/>
            <a:ext cx="804672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1" i="0">
                <a:solidFill>
                  <a:srgbClr val="A4B4C6"/>
                </a:solidFill>
                <a:latin typeface="Aptos"/>
              </a:rPr>
              <a:t>TECH TITANS  •  IBM BOB AI INNOVATION HACKATHON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35440" y="6510528"/>
            <a:ext cx="233172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50" b="1" i="0">
                <a:solidFill>
                  <a:srgbClr val="A4B4C6"/>
                </a:solidFill>
                <a:latin typeface="Aptos"/>
              </a:rPr>
              <a:t>L1  •  PORT OPERATIONS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4114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32D2E6"/>
                </a:solidFill>
                <a:latin typeface="Aptos"/>
              </a:rPr>
              <a:t>05 • DIFFERENTIATION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881360" cy="5943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F4F8FC"/>
                </a:solidFill>
                <a:latin typeface="Aptos"/>
              </a:rPr>
              <a:t>Built for decisions, not just dashboards.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353312"/>
            <a:ext cx="10698480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A4B4C6"/>
                </a:solidFill>
                <a:latin typeface="Aptos"/>
              </a:rPr>
              <a:t>The differentiator is the closed loop: explain the risk → resolve constraints → recommend alternatives → schedule action.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810512"/>
            <a:ext cx="11000232" cy="0"/>
          </a:xfrm>
          <a:prstGeom prst="line">
            <a:avLst/>
          </a:prstGeom>
          <a:ln w="12700">
            <a:solidFill>
              <a:srgbClr val="2335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109960" y="393192"/>
            <a:ext cx="5029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A4B4C6"/>
                </a:solidFill>
                <a:latin typeface="Aptos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240280"/>
            <a:ext cx="2487168" cy="2514600"/>
          </a:xfrm>
          <a:prstGeom prst="roundRect">
            <a:avLst>
              <a:gd name="adj" fmla="val 8000"/>
            </a:avLst>
          </a:prstGeom>
          <a:solidFill>
            <a:srgbClr val="0F1928"/>
          </a:solidFill>
          <a:ln>
            <a:solidFill>
              <a:srgbClr val="2335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2487168"/>
            <a:ext cx="50292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32D2E6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907792"/>
            <a:ext cx="2011680" cy="3657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32D2E6"/>
                </a:solidFill>
                <a:latin typeface="Aptos"/>
              </a:rPr>
              <a:t>EXPLAIN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456432"/>
            <a:ext cx="2011680" cy="9144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F4F8FC"/>
                </a:solidFill>
                <a:latin typeface="Aptos"/>
              </a:rPr>
              <a:t>Every congestion hotspot carries a root-cause explanation.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47287" y="2240280"/>
            <a:ext cx="2487168" cy="2514600"/>
          </a:xfrm>
          <a:prstGeom prst="roundRect">
            <a:avLst>
              <a:gd name="adj" fmla="val 8000"/>
            </a:avLst>
          </a:prstGeom>
          <a:solidFill>
            <a:srgbClr val="0F1928"/>
          </a:solidFill>
          <a:ln>
            <a:solidFill>
              <a:srgbClr val="2335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75887" y="2487168"/>
            <a:ext cx="50292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41DC96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5887" y="2907792"/>
            <a:ext cx="2011680" cy="3657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41DC96"/>
                </a:solidFill>
                <a:latin typeface="Aptos"/>
              </a:rPr>
              <a:t>OPTIMIZE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5887" y="3456432"/>
            <a:ext cx="2011680" cy="9144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F4F8FC"/>
                </a:solidFill>
                <a:latin typeface="Aptos"/>
              </a:rPr>
              <a:t>Berth and crane allocation respects capacity and conflicts.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7" y="2240280"/>
            <a:ext cx="2487168" cy="2514600"/>
          </a:xfrm>
          <a:prstGeom prst="roundRect">
            <a:avLst>
              <a:gd name="adj" fmla="val 8000"/>
            </a:avLst>
          </a:prstGeom>
          <a:solidFill>
            <a:srgbClr val="0F1928"/>
          </a:solidFill>
          <a:ln>
            <a:solidFill>
              <a:srgbClr val="2335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4807" y="2487168"/>
            <a:ext cx="50292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FFB946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4807" y="2907792"/>
            <a:ext cx="2011680" cy="3657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FFB946"/>
                </a:solidFill>
                <a:latin typeface="Aptos"/>
              </a:rPr>
              <a:t>ADAPT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4807" y="3456432"/>
            <a:ext cx="2011680" cy="9144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F4F8FC"/>
                </a:solidFill>
                <a:latin typeface="Aptos"/>
              </a:rPr>
              <a:t>Routing recommendations respond to HIGH / CRITICAL congestion.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25128" y="2240280"/>
            <a:ext cx="2487168" cy="2514600"/>
          </a:xfrm>
          <a:prstGeom prst="roundRect">
            <a:avLst>
              <a:gd name="adj" fmla="val 8000"/>
            </a:avLst>
          </a:prstGeom>
          <a:solidFill>
            <a:srgbClr val="0F1928"/>
          </a:solidFill>
          <a:ln>
            <a:solidFill>
              <a:srgbClr val="2335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53728" y="2487168"/>
            <a:ext cx="50292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A66EFF"/>
                </a:solidFill>
                <a:latin typeface="Apto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53728" y="2907792"/>
            <a:ext cx="2011680" cy="3657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A66EFF"/>
                </a:solidFill>
                <a:latin typeface="Aptos"/>
              </a:rPr>
              <a:t>EXECUTE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53728" y="3456432"/>
            <a:ext cx="2011680" cy="9144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F4F8FC"/>
                </a:solidFill>
                <a:latin typeface="Aptos"/>
              </a:rPr>
              <a:t>A 72-hour shift plan converts recommendations into actions.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5074920"/>
            <a:ext cx="10927080" cy="777240"/>
          </a:xfrm>
          <a:prstGeom prst="roundRect">
            <a:avLst>
              <a:gd name="adj" fmla="val 8000"/>
            </a:avLst>
          </a:prstGeom>
          <a:solidFill>
            <a:srgbClr val="142235"/>
          </a:solidFill>
          <a:ln>
            <a:solidFill>
              <a:srgbClr val="2335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285232"/>
            <a:ext cx="9601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A4B4C6"/>
                </a:solidFill>
                <a:latin typeface="Aptos"/>
              </a:rPr>
              <a:t>Reactive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19" y="5285232"/>
            <a:ext cx="14173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F4F8FC"/>
                </a:solidFill>
                <a:latin typeface="Aptos"/>
              </a:rPr>
              <a:t>detect → respond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520440" y="5449824"/>
            <a:ext cx="731520" cy="0"/>
          </a:xfrm>
          <a:prstGeom prst="line">
            <a:avLst/>
          </a:prstGeom>
          <a:ln w="25400">
            <a:solidFill>
              <a:srgbClr val="2335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526280" y="5285232"/>
            <a:ext cx="146304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32D2E6"/>
                </a:solidFill>
                <a:latin typeface="Aptos"/>
              </a:rPr>
              <a:t>PortControl 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0" y="5285232"/>
            <a:ext cx="384048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F4F8FC"/>
                </a:solidFill>
                <a:latin typeface="Aptos"/>
              </a:rPr>
              <a:t>predict → optimize → route → plan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6510528"/>
            <a:ext cx="804672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1" i="0">
                <a:solidFill>
                  <a:srgbClr val="A4B4C6"/>
                </a:solidFill>
                <a:latin typeface="Aptos"/>
              </a:rPr>
              <a:t>TECH TITANS  •  IBM BOB AI INNOVATION HACKATHON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40" y="6510528"/>
            <a:ext cx="233172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50" b="1" i="0">
                <a:solidFill>
                  <a:srgbClr val="A4B4C6"/>
                </a:solidFill>
                <a:latin typeface="Aptos"/>
              </a:rPr>
              <a:t>L1  •  PORT OPERATIONS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4114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32D2E6"/>
                </a:solidFill>
                <a:latin typeface="Aptos"/>
              </a:rPr>
              <a:t>06 •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881360" cy="5943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F4F8FC"/>
                </a:solidFill>
                <a:latin typeface="Aptos"/>
              </a:rPr>
              <a:t>A practical path from hackathon prototype to port operations intelligence.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353312"/>
            <a:ext cx="10698480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A4B4C6"/>
                </a:solidFill>
                <a:latin typeface="Aptos"/>
              </a:rPr>
              <a:t>The current build uses synthetic data; the architecture is designed to accept real operational telemetry.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810512"/>
            <a:ext cx="11000232" cy="0"/>
          </a:xfrm>
          <a:prstGeom prst="line">
            <a:avLst/>
          </a:prstGeom>
          <a:ln w="12700">
            <a:solidFill>
              <a:srgbClr val="2335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109960" y="393192"/>
            <a:ext cx="5029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A4B4C6"/>
                </a:solidFill>
                <a:latin typeface="Aptos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94560"/>
            <a:ext cx="5166360" cy="3611880"/>
          </a:xfrm>
          <a:prstGeom prst="roundRect">
            <a:avLst>
              <a:gd name="adj" fmla="val 8000"/>
            </a:avLst>
          </a:prstGeom>
          <a:solidFill>
            <a:srgbClr val="0F1928"/>
          </a:solidFill>
          <a:ln>
            <a:solidFill>
              <a:srgbClr val="2335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87168"/>
            <a:ext cx="22860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41DC96"/>
                </a:solidFill>
                <a:latin typeface="Aptos"/>
              </a:rPr>
              <a:t>IMMEDIATE 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2286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41DC96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953512"/>
            <a:ext cx="160020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4F8FC"/>
                </a:solidFill>
                <a:latin typeface="Aptos"/>
              </a:rPr>
              <a:t>Less idle 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2953512"/>
            <a:ext cx="2514600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A4B4C6"/>
                </a:solidFill>
                <a:latin typeface="Aptos"/>
              </a:rPr>
              <a:t>Earlier hotspot detection and resource balancing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611880"/>
            <a:ext cx="2286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41DC96"/>
                </a:solidFill>
                <a:latin typeface="Aptos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93592"/>
            <a:ext cx="160020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4F8FC"/>
                </a:solidFill>
                <a:latin typeface="Aptos"/>
              </a:rPr>
              <a:t>Lower demurrage exposure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3593592"/>
            <a:ext cx="2514600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A4B4C6"/>
                </a:solidFill>
                <a:latin typeface="Aptos"/>
              </a:rPr>
              <a:t>Fewer avoidable queue delays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251960"/>
            <a:ext cx="2286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41DC96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233672"/>
            <a:ext cx="160020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4F8FC"/>
                </a:solidFill>
                <a:latin typeface="Aptos"/>
              </a:rPr>
              <a:t>Better shift coordination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4233672"/>
            <a:ext cx="2514600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A4B4C6"/>
                </a:solidFill>
                <a:latin typeface="Aptos"/>
              </a:rPr>
              <a:t>One 72-hour plan with risk-tagged actions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892040"/>
            <a:ext cx="2286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41DC96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873752"/>
            <a:ext cx="160020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4F8FC"/>
                </a:solidFill>
                <a:latin typeface="Aptos"/>
              </a:rPr>
              <a:t>Faster decisions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360" y="4873752"/>
            <a:ext cx="2514600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A4B4C6"/>
                </a:solidFill>
                <a:latin typeface="Aptos"/>
              </a:rPr>
              <a:t>Recommendations available in a single control center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0" y="2194560"/>
            <a:ext cx="5458968" cy="3611880"/>
          </a:xfrm>
          <a:prstGeom prst="roundRect">
            <a:avLst>
              <a:gd name="adj" fmla="val 8000"/>
            </a:avLst>
          </a:prstGeom>
          <a:solidFill>
            <a:srgbClr val="0F1928"/>
          </a:solidFill>
          <a:ln>
            <a:solidFill>
              <a:srgbClr val="2335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487168"/>
            <a:ext cx="22860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32D2E6"/>
                </a:solidFill>
                <a:latin typeface="Aptos"/>
              </a:rPr>
              <a:t>NEXT HORIZON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2926080"/>
            <a:ext cx="384048" cy="292608"/>
          </a:xfrm>
          <a:prstGeom prst="roundRect">
            <a:avLst>
              <a:gd name="adj" fmla="val 8000"/>
            </a:avLst>
          </a:prstGeom>
          <a:solidFill>
            <a:srgbClr val="142235"/>
          </a:solidFill>
          <a:ln>
            <a:solidFill>
              <a:srgbClr val="32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2935224"/>
            <a:ext cx="384048" cy="25603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900" b="1" i="0">
                <a:solidFill>
                  <a:srgbClr val="32D2E6"/>
                </a:solidFill>
                <a:latin typeface="Aptos"/>
              </a:rPr>
              <a:t>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2916936"/>
            <a:ext cx="150876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F4F8FC"/>
                </a:solidFill>
                <a:latin typeface="Aptos"/>
              </a:rPr>
              <a:t>REAL TELEMETRY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85632" y="2916936"/>
            <a:ext cx="269748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A4B4C6"/>
                </a:solidFill>
                <a:latin typeface="Aptos"/>
              </a:rPr>
              <a:t>AIS / TOS / yard signals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3538728"/>
            <a:ext cx="384048" cy="292608"/>
          </a:xfrm>
          <a:prstGeom prst="roundRect">
            <a:avLst>
              <a:gd name="adj" fmla="val 8000"/>
            </a:avLst>
          </a:prstGeom>
          <a:solidFill>
            <a:srgbClr val="142235"/>
          </a:solidFill>
          <a:ln>
            <a:solidFill>
              <a:srgbClr val="32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3547872"/>
            <a:ext cx="384048" cy="25603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900" b="1" i="0">
                <a:solidFill>
                  <a:srgbClr val="32D2E6"/>
                </a:solidFill>
                <a:latin typeface="Aptos"/>
              </a:rP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67728" y="3529584"/>
            <a:ext cx="150876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F4F8FC"/>
                </a:solidFill>
                <a:latin typeface="Aptos"/>
              </a:rPr>
              <a:t>PREDICTIVE ML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85632" y="3529584"/>
            <a:ext cx="269748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A4B4C6"/>
                </a:solidFill>
                <a:latin typeface="Aptos"/>
              </a:rPr>
              <a:t>Calibrate risk with historical port data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51376"/>
            <a:ext cx="384048" cy="292608"/>
          </a:xfrm>
          <a:prstGeom prst="roundRect">
            <a:avLst>
              <a:gd name="adj" fmla="val 8000"/>
            </a:avLst>
          </a:prstGeom>
          <a:solidFill>
            <a:srgbClr val="142235"/>
          </a:solidFill>
          <a:ln>
            <a:solidFill>
              <a:srgbClr val="32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4160520"/>
            <a:ext cx="384048" cy="25603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900" b="1" i="0">
                <a:solidFill>
                  <a:srgbClr val="32D2E6"/>
                </a:solidFill>
                <a:latin typeface="Aptos"/>
              </a:rP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67728" y="4142232"/>
            <a:ext cx="150876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F4F8FC"/>
                </a:solidFill>
                <a:latin typeface="Aptos"/>
              </a:rPr>
              <a:t>ENTERPRISE SCALE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85632" y="4142232"/>
            <a:ext cx="269748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A4B4C6"/>
                </a:solidFill>
                <a:latin typeface="Aptos"/>
              </a:rPr>
              <a:t>PostgreSQL + Kubernetes + observability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4764024"/>
            <a:ext cx="384048" cy="292608"/>
          </a:xfrm>
          <a:prstGeom prst="roundRect">
            <a:avLst>
              <a:gd name="adj" fmla="val 8000"/>
            </a:avLst>
          </a:prstGeom>
          <a:solidFill>
            <a:srgbClr val="142235"/>
          </a:solidFill>
          <a:ln>
            <a:solidFill>
              <a:srgbClr val="32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4773168"/>
            <a:ext cx="384048" cy="25603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900" b="1" i="0">
                <a:solidFill>
                  <a:srgbClr val="32D2E6"/>
                </a:solidFill>
                <a:latin typeface="Aptos"/>
              </a:rP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67728" y="4754880"/>
            <a:ext cx="150876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F4F8FC"/>
                </a:solidFill>
                <a:latin typeface="Aptos"/>
              </a:rPr>
              <a:t>DECISION GOVERNANCE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85632" y="4754880"/>
            <a:ext cx="269748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A4B4C6"/>
                </a:solidFill>
                <a:latin typeface="Aptos"/>
              </a:rPr>
              <a:t>Audit trails, confidence &amp; human approval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5285232"/>
            <a:ext cx="466344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FFB946"/>
                </a:solidFill>
                <a:latin typeface="Aptos"/>
              </a:rPr>
              <a:t>Honest limitation: current vessel / berth / crane data is synthetic demo data.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648" y="6510528"/>
            <a:ext cx="804672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1" i="0">
                <a:solidFill>
                  <a:srgbClr val="A4B4C6"/>
                </a:solidFill>
                <a:latin typeface="Aptos"/>
              </a:rPr>
              <a:t>TECH TITANS  •  IBM BOB AI INNOVATION HACKATHON 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35440" y="6510528"/>
            <a:ext cx="233172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50" b="1" i="0">
                <a:solidFill>
                  <a:srgbClr val="A4B4C6"/>
                </a:solidFill>
                <a:latin typeface="Aptos"/>
              </a:rPr>
              <a:t>L1  •  PORT OPERATIONS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30352"/>
            <a:ext cx="1143000" cy="292608"/>
          </a:xfrm>
          <a:prstGeom prst="roundRect">
            <a:avLst>
              <a:gd name="adj" fmla="val 8000"/>
            </a:avLst>
          </a:prstGeom>
          <a:solidFill>
            <a:srgbClr val="0F1928"/>
          </a:solidFill>
          <a:ln>
            <a:solidFill>
              <a:srgbClr val="32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39496"/>
            <a:ext cx="1143000" cy="25603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32D2E6"/>
                </a:solidFill>
                <a:latin typeface="Aptos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8046720" cy="6583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F4F8FC"/>
                </a:solidFill>
                <a:latin typeface="Aptos"/>
              </a:rPr>
              <a:t>See the port before the queue.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438912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32D2E6"/>
                </a:solidFill>
                <a:latin typeface="Aptos"/>
              </a:rPr>
              <a:t>PortControl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70048"/>
            <a:ext cx="6675120" cy="4114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A4B4C6"/>
                </a:solidFill>
                <a:latin typeface="Aptos"/>
              </a:rPr>
              <a:t>Container Congestion Predictor &amp; Port Operations Optimiser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703320"/>
            <a:ext cx="3337560" cy="1325880"/>
          </a:xfrm>
          <a:prstGeom prst="roundRect">
            <a:avLst>
              <a:gd name="adj" fmla="val 8000"/>
            </a:avLst>
          </a:prstGeom>
          <a:solidFill>
            <a:srgbClr val="0F1928"/>
          </a:solidFill>
          <a:ln>
            <a:solidFill>
              <a:srgbClr val="2335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3977639"/>
            <a:ext cx="278892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32D2E6"/>
                </a:solidFill>
                <a:latin typeface="Aptos"/>
              </a:rPr>
              <a:t>LIVE 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4416552"/>
            <a:ext cx="2743200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4F8FC"/>
                </a:solidFill>
                <a:latin typeface="Aptos"/>
              </a:rPr>
              <a:t>Local FastAPI command center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3703320"/>
            <a:ext cx="3337560" cy="1325880"/>
          </a:xfrm>
          <a:prstGeom prst="roundRect">
            <a:avLst>
              <a:gd name="adj" fmla="val 8000"/>
            </a:avLst>
          </a:prstGeom>
          <a:solidFill>
            <a:srgbClr val="0F1928"/>
          </a:solidFill>
          <a:ln>
            <a:solidFill>
              <a:srgbClr val="2335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3977639"/>
            <a:ext cx="278892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A66EFF"/>
                </a:solidFill>
                <a:latin typeface="Aptos"/>
              </a:rPr>
              <a:t>IBM BOB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4416552"/>
            <a:ext cx="2743200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4F8FC"/>
                </a:solidFill>
                <a:latin typeface="Aptos"/>
              </a:rPr>
              <a:t>MCP-powered operational copilot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5008" y="3703320"/>
            <a:ext cx="3337560" cy="1325880"/>
          </a:xfrm>
          <a:prstGeom prst="roundRect">
            <a:avLst>
              <a:gd name="adj" fmla="val 8000"/>
            </a:avLst>
          </a:prstGeom>
          <a:solidFill>
            <a:srgbClr val="0F1928"/>
          </a:solidFill>
          <a:ln>
            <a:solidFill>
              <a:srgbClr val="2335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93608" y="3977639"/>
            <a:ext cx="278892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41DC96"/>
                </a:solidFill>
                <a:latin typeface="Aptos"/>
              </a:rPr>
              <a:t>GITHUB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3608" y="4416552"/>
            <a:ext cx="2743200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4F8FC"/>
                </a:solidFill>
                <a:latin typeface="Aptos"/>
              </a:rPr>
              <a:t>Public repo • Tech Titans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5806440"/>
            <a:ext cx="384048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A4B4C6"/>
                </a:solidFill>
                <a:latin typeface="Aptos"/>
              </a:rPr>
              <a:t>L1  •  AI TRACK  • 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46920" y="5806440"/>
            <a:ext cx="192024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F4F8FC"/>
                </a:solidFill>
                <a:latin typeface="Aptos"/>
              </a:rPr>
              <a:t>TECH TITANS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6510528"/>
            <a:ext cx="804672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1" i="0">
                <a:solidFill>
                  <a:srgbClr val="A4B4C6"/>
                </a:solidFill>
                <a:latin typeface="Aptos"/>
              </a:rPr>
              <a:t>TECH TITANS  •  IBM BOB AI INNOVATION HACKATHON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6510528"/>
            <a:ext cx="233172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50" b="1" i="0">
                <a:solidFill>
                  <a:srgbClr val="A4B4C6"/>
                </a:solidFill>
                <a:latin typeface="Aptos"/>
              </a:rPr>
              <a:t>L1  •  PORT OPERATIONS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